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5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0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8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1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5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6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7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07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3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BDDB-EF9E-46B2-B4A6-858839B429E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F4248-8372-4561-BA06-30363E8C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8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05243"/>
            <a:ext cx="9144000" cy="2004720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SALT CORPORATION HR ANALYSIS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8708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Satisfaction &amp; Retention Analysis 2024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74498" y="5739617"/>
            <a:ext cx="644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JESICA AKEYO OGINDO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12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948" y="168813"/>
            <a:ext cx="5556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948" y="568923"/>
            <a:ext cx="11628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Records: 1,000 </a:t>
            </a:r>
            <a:r>
              <a:rPr lang="en-US" dirty="0" err="1" smtClean="0">
                <a:solidFill>
                  <a:schemeClr val="bg1"/>
                </a:solidFill>
              </a:rPr>
              <a:t>employess</a:t>
            </a:r>
            <a:r>
              <a:rPr lang="en-US" dirty="0" smtClean="0">
                <a:solidFill>
                  <a:schemeClr val="bg1"/>
                </a:solidFill>
              </a:rPr>
              <a:t>  |  Fields: 24 columns  |  Period: 2018 – 2020  |  Departments: 5  |  Positions: 5</a:t>
            </a:r>
          </a:p>
          <a:p>
            <a:endParaRPr lang="en-US" dirty="0" smtClean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716660"/>
              </p:ext>
            </p:extLst>
          </p:nvPr>
        </p:nvGraphicFramePr>
        <p:xfrm>
          <a:off x="196947" y="1215254"/>
          <a:ext cx="11628707" cy="53834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7734">
                  <a:extLst>
                    <a:ext uri="{9D8B030D-6E8A-4147-A177-3AD203B41FA5}">
                      <a16:colId xmlns:a16="http://schemas.microsoft.com/office/drawing/2014/main" val="2166471889"/>
                    </a:ext>
                  </a:extLst>
                </a:gridCol>
                <a:gridCol w="3756619">
                  <a:extLst>
                    <a:ext uri="{9D8B030D-6E8A-4147-A177-3AD203B41FA5}">
                      <a16:colId xmlns:a16="http://schemas.microsoft.com/office/drawing/2014/main" val="1988655970"/>
                    </a:ext>
                  </a:extLst>
                </a:gridCol>
                <a:gridCol w="2907177">
                  <a:extLst>
                    <a:ext uri="{9D8B030D-6E8A-4147-A177-3AD203B41FA5}">
                      <a16:colId xmlns:a16="http://schemas.microsoft.com/office/drawing/2014/main" val="3604218900"/>
                    </a:ext>
                  </a:extLst>
                </a:gridCol>
                <a:gridCol w="2907177">
                  <a:extLst>
                    <a:ext uri="{9D8B030D-6E8A-4147-A177-3AD203B41FA5}">
                      <a16:colId xmlns:a16="http://schemas.microsoft.com/office/drawing/2014/main" val="2608304205"/>
                    </a:ext>
                  </a:extLst>
                </a:gridCol>
              </a:tblGrid>
              <a:tr h="587412">
                <a:tc>
                  <a:txBody>
                    <a:bodyPr/>
                    <a:lstStyle/>
                    <a:p>
                      <a:r>
                        <a:rPr lang="en-US" dirty="0" smtClean="0"/>
                        <a:t>Column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Issue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Solution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Result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74259"/>
                  </a:ext>
                </a:extLst>
              </a:tr>
              <a:tr h="662722">
                <a:tc>
                  <a:txBody>
                    <a:bodyPr/>
                    <a:lstStyle/>
                    <a:p>
                      <a:r>
                        <a:rPr lang="en-US" dirty="0" smtClean="0"/>
                        <a:t>Age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Text Values </a:t>
                      </a:r>
                      <a:r>
                        <a:rPr lang="en-US" dirty="0" err="1" smtClean="0"/>
                        <a:t>eg</a:t>
                      </a:r>
                      <a:r>
                        <a:rPr lang="en-US" dirty="0" smtClean="0"/>
                        <a:t>. “Thirty”, missing values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Recalculated using 2024 – Birth</a:t>
                      </a:r>
                      <a:r>
                        <a:rPr lang="en-US" baseline="0" dirty="0" smtClean="0"/>
                        <a:t> Year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Avg</a:t>
                      </a:r>
                      <a:r>
                        <a:rPr lang="en-US" dirty="0" smtClean="0"/>
                        <a:t> age = 36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130010"/>
                  </a:ext>
                </a:extLst>
              </a:tr>
              <a:tr h="946745"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“SIXTY THOUSAND” text, “</a:t>
                      </a:r>
                      <a:r>
                        <a:rPr lang="en-US" dirty="0" err="1" smtClean="0"/>
                        <a:t>NAN”strings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to convert text, AVERAGEIFS</a:t>
                      </a:r>
                      <a:r>
                        <a:rPr lang="en-US" baseline="0" dirty="0" smtClean="0"/>
                        <a:t> by </a:t>
                      </a:r>
                      <a:r>
                        <a:rPr lang="en-US" baseline="0" dirty="0" err="1" smtClean="0"/>
                        <a:t>dept</a:t>
                      </a:r>
                      <a:r>
                        <a:rPr lang="en-US" baseline="0" dirty="0" smtClean="0"/>
                        <a:t> and position to fill missing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Avg</a:t>
                      </a:r>
                      <a:r>
                        <a:rPr lang="en-US" baseline="0" dirty="0" smtClean="0"/>
                        <a:t> salary= 60,207.70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46961"/>
                  </a:ext>
                </a:extLst>
              </a:tr>
              <a:tr h="662722">
                <a:tc>
                  <a:txBody>
                    <a:bodyPr/>
                    <a:lstStyle/>
                    <a:p>
                      <a:r>
                        <a:rPr lang="en-US" dirty="0" smtClean="0"/>
                        <a:t>Department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Inconsistent casing e.g. finance , FINANCE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PROPER function, IF for IT and HR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Consistent casing for all categories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725466"/>
                  </a:ext>
                </a:extLst>
              </a:tr>
              <a:tr h="662722">
                <a:tc>
                  <a:txBody>
                    <a:bodyPr/>
                    <a:lstStyle/>
                    <a:p>
                      <a:r>
                        <a:rPr lang="en-US" dirty="0" smtClean="0"/>
                        <a:t>Joining Date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Mixed formats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DATE, LEFT, MID, RIGHT to extract and rebuild dates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Uniform</a:t>
                      </a:r>
                      <a:r>
                        <a:rPr lang="en-US" baseline="0" dirty="0" smtClean="0"/>
                        <a:t> date format: </a:t>
                      </a:r>
                      <a:r>
                        <a:rPr lang="en-US" baseline="0" dirty="0" err="1" smtClean="0"/>
                        <a:t>dd</a:t>
                      </a:r>
                      <a:r>
                        <a:rPr lang="en-US" baseline="0" dirty="0" smtClean="0"/>
                        <a:t>/mm/</a:t>
                      </a:r>
                      <a:r>
                        <a:rPr lang="en-US" baseline="0" dirty="0" err="1" smtClean="0"/>
                        <a:t>yyyy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22419"/>
                  </a:ext>
                </a:extLst>
              </a:tr>
              <a:tr h="662722">
                <a:tc>
                  <a:txBody>
                    <a:bodyPr/>
                    <a:lstStyle/>
                    <a:p>
                      <a:r>
                        <a:rPr lang="en-US" dirty="0" smtClean="0"/>
                        <a:t>Email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Missing values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TRIM</a:t>
                      </a:r>
                      <a:r>
                        <a:rPr lang="en-US" baseline="0" dirty="0" smtClean="0"/>
                        <a:t> then </a:t>
                      </a:r>
                      <a:r>
                        <a:rPr lang="en-US" dirty="0" smtClean="0"/>
                        <a:t>LOWER(CONCAT(first, </a:t>
                      </a:r>
                      <a:r>
                        <a:rPr lang="en-US" dirty="0" err="1" smtClean="0"/>
                        <a:t>last,@saltcorp.com</a:t>
                      </a:r>
                      <a:r>
                        <a:rPr lang="en-US" dirty="0" smtClean="0"/>
                        <a:t>))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Valid</a:t>
                      </a:r>
                      <a:r>
                        <a:rPr lang="en-US" baseline="0" dirty="0" smtClean="0"/>
                        <a:t> emails across all rows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712076"/>
                  </a:ext>
                </a:extLst>
              </a:tr>
              <a:tr h="946745">
                <a:tc>
                  <a:txBody>
                    <a:bodyPr/>
                    <a:lstStyle/>
                    <a:p>
                      <a:r>
                        <a:rPr lang="en-US" dirty="0" smtClean="0"/>
                        <a:t>Benefits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Inconsistent Yes/No and blanks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and OR logic to standardize,</a:t>
                      </a:r>
                      <a:r>
                        <a:rPr lang="en-US" baseline="0" dirty="0" smtClean="0"/>
                        <a:t> blanks = Unknown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Only Yes, No,</a:t>
                      </a:r>
                      <a:r>
                        <a:rPr lang="en-US" baseline="0" dirty="0" smtClean="0"/>
                        <a:t> Unknown values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839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57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1440"/>
            <a:ext cx="4010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WHO ARE OUR EMPLOYEES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56" y="460772"/>
            <a:ext cx="3505504" cy="27617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416" y="460772"/>
            <a:ext cx="3505504" cy="27617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876" y="460771"/>
            <a:ext cx="4224894" cy="27617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6519" y="3409405"/>
            <a:ext cx="11482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Salt Corporation employs 1,000 people across 5 departments, with Finance being the largest at 218 employees and Marketing the smallest at </a:t>
            </a:r>
            <a:r>
              <a:rPr lang="en-US" sz="1600" dirty="0" smtClean="0">
                <a:solidFill>
                  <a:schemeClr val="bg1"/>
                </a:solidFill>
              </a:rPr>
              <a:t>187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Gender representation is near equal, with 50.7% </a:t>
            </a:r>
            <a:r>
              <a:rPr lang="en-US" sz="1600" dirty="0" smtClean="0">
                <a:solidFill>
                  <a:schemeClr val="bg1"/>
                </a:solidFill>
              </a:rPr>
              <a:t>male </a:t>
            </a:r>
            <a:r>
              <a:rPr lang="en-US" sz="1600" dirty="0">
                <a:solidFill>
                  <a:schemeClr val="bg1"/>
                </a:solidFill>
              </a:rPr>
              <a:t>and 49.3% </a:t>
            </a:r>
            <a:r>
              <a:rPr lang="en-US" sz="1600" dirty="0" smtClean="0">
                <a:solidFill>
                  <a:schemeClr val="bg1"/>
                </a:solidFill>
              </a:rPr>
              <a:t>female </a:t>
            </a:r>
            <a:r>
              <a:rPr lang="en-US" sz="1600" dirty="0" smtClean="0">
                <a:solidFill>
                  <a:schemeClr val="bg1"/>
                </a:solidFill>
              </a:rPr>
              <a:t>employees, suggesting inclusive hiring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All five positions are evenly distributed, with Assistants being most common at 214 and Managers least common at </a:t>
            </a:r>
            <a:r>
              <a:rPr lang="en-US" sz="1600" dirty="0" smtClean="0">
                <a:solidFill>
                  <a:schemeClr val="bg1"/>
                </a:solidFill>
              </a:rPr>
              <a:t>186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Average employee age is 36 years with an average tenure of 5 years, indicating a relatively young and mid-career </a:t>
            </a:r>
            <a:r>
              <a:rPr lang="en-US" sz="1600" dirty="0" smtClean="0">
                <a:solidFill>
                  <a:schemeClr val="bg1"/>
                </a:solidFill>
              </a:rPr>
              <a:t>workforce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Hiring was steady across </a:t>
            </a:r>
            <a:r>
              <a:rPr lang="en-US" sz="1600" dirty="0" smtClean="0">
                <a:solidFill>
                  <a:schemeClr val="bg1"/>
                </a:solidFill>
              </a:rPr>
              <a:t>2018–2020, suggesting organization growth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Overall, Salt Corporation has a balanced and steadily growing workforce. The next step is understanding how employees experience the organization and how those experiences shape retention.</a:t>
            </a:r>
            <a:endParaRPr lang="en-US" sz="16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4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40" y="786940"/>
            <a:ext cx="4193313" cy="22496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954" y="756457"/>
            <a:ext cx="3905391" cy="22801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246" y="756457"/>
            <a:ext cx="3595901" cy="2249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7625" y="3305907"/>
            <a:ext cx="115917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Salt Corporation has a 39.2% attrition </a:t>
            </a:r>
            <a:r>
              <a:rPr lang="en-US" dirty="0" smtClean="0">
                <a:solidFill>
                  <a:schemeClr val="bg1"/>
                </a:solidFill>
              </a:rPr>
              <a:t>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Attrition is spread across all five departments, with Marketing having the highest rate at 42.8% and HR the lowest at 36% ,</a:t>
            </a:r>
            <a:r>
              <a:rPr lang="en-US" dirty="0" smtClean="0">
                <a:solidFill>
                  <a:schemeClr val="bg1"/>
                </a:solidFill>
              </a:rPr>
              <a:t>suggesting </a:t>
            </a:r>
            <a:r>
              <a:rPr lang="en-US" dirty="0">
                <a:solidFill>
                  <a:schemeClr val="bg1"/>
                </a:solidFill>
              </a:rPr>
              <a:t>this is not a department-specific problem but a company-wide </a:t>
            </a:r>
            <a:r>
              <a:rPr lang="en-US" dirty="0" smtClean="0">
                <a:solidFill>
                  <a:schemeClr val="bg1"/>
                </a:solidFill>
              </a:rPr>
              <a:t>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Attrition is equally consistent across all positions, ranging from 37.6% among Managers to 41.8% among Analysts 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Employment type shows no significant difference </a:t>
            </a:r>
            <a:r>
              <a:rPr lang="en-US" dirty="0" smtClean="0">
                <a:solidFill>
                  <a:schemeClr val="bg1"/>
                </a:solidFill>
              </a:rPr>
              <a:t>: Contract </a:t>
            </a:r>
            <a:r>
              <a:rPr lang="en-US" dirty="0">
                <a:solidFill>
                  <a:schemeClr val="bg1"/>
                </a:solidFill>
              </a:rPr>
              <a:t>employees leave at 40%, Full-Time at 40.2% and Part-Time at 36.9</a:t>
            </a:r>
            <a:r>
              <a:rPr lang="en-US" dirty="0" smtClean="0">
                <a:solidFill>
                  <a:schemeClr val="bg1"/>
                </a:solidFill>
              </a:rPr>
              <a:t>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Attrition remains consistent across all </a:t>
            </a:r>
            <a:r>
              <a:rPr lang="en-US" dirty="0" smtClean="0">
                <a:solidFill>
                  <a:schemeClr val="bg1"/>
                </a:solidFill>
              </a:rPr>
              <a:t>Years of service at </a:t>
            </a:r>
            <a:r>
              <a:rPr lang="en-US" dirty="0">
                <a:solidFill>
                  <a:schemeClr val="bg1"/>
                </a:solidFill>
              </a:rPr>
              <a:t>39</a:t>
            </a:r>
            <a:r>
              <a:rPr lang="en-US" dirty="0" smtClean="0">
                <a:solidFill>
                  <a:schemeClr val="bg1"/>
                </a:solidFill>
              </a:rPr>
              <a:t>% </a:t>
            </a:r>
            <a:r>
              <a:rPr lang="en-US" dirty="0">
                <a:solidFill>
                  <a:schemeClr val="bg1"/>
                </a:solidFill>
              </a:rPr>
              <a:t>whether an employee has been with the company 1 year or 8 </a:t>
            </a:r>
            <a:r>
              <a:rPr lang="en-US" dirty="0" smtClean="0">
                <a:solidFill>
                  <a:schemeClr val="bg1"/>
                </a:solidFill>
              </a:rPr>
              <a:t>years , meaning </a:t>
            </a:r>
            <a:r>
              <a:rPr lang="en-US" dirty="0">
                <a:solidFill>
                  <a:schemeClr val="bg1"/>
                </a:solidFill>
              </a:rPr>
              <a:t>Salt Corporation is not just losing new hires, it is losing experienced staff </a:t>
            </a:r>
            <a:r>
              <a:rPr lang="en-US" dirty="0" smtClean="0">
                <a:solidFill>
                  <a:schemeClr val="bg1"/>
                </a:solidFill>
              </a:rPr>
              <a:t>too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consistency of attrition across departments, positions, employment types and </a:t>
            </a:r>
            <a:r>
              <a:rPr lang="en-US" dirty="0" smtClean="0">
                <a:solidFill>
                  <a:schemeClr val="bg1"/>
                </a:solidFill>
              </a:rPr>
              <a:t>years of service </a:t>
            </a:r>
            <a:r>
              <a:rPr lang="en-US" dirty="0">
                <a:solidFill>
                  <a:schemeClr val="bg1"/>
                </a:solidFill>
              </a:rPr>
              <a:t>points to a systemic, </a:t>
            </a:r>
            <a:r>
              <a:rPr lang="en-US" dirty="0" err="1">
                <a:solidFill>
                  <a:schemeClr val="bg1"/>
                </a:solidFill>
              </a:rPr>
              <a:t>organisation</a:t>
            </a:r>
            <a:r>
              <a:rPr lang="en-US" dirty="0">
                <a:solidFill>
                  <a:schemeClr val="bg1"/>
                </a:solidFill>
              </a:rPr>
              <a:t>-wide </a:t>
            </a:r>
            <a:r>
              <a:rPr lang="en-US" dirty="0" smtClean="0">
                <a:solidFill>
                  <a:schemeClr val="bg1"/>
                </a:solidFill>
              </a:rPr>
              <a:t>problem.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55558"/>
            <a:ext cx="3461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2"/>
                </a:solidFill>
              </a:rPr>
              <a:t>We Have A Retention Problem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89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77" y="572588"/>
            <a:ext cx="3139712" cy="25652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694" y="572587"/>
            <a:ext cx="5077753" cy="25652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3566160"/>
            <a:ext cx="113516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Employees who left Salt Corporation had an average job satisfaction score of 2 out of 5, compared to 3 out of 5 among those who </a:t>
            </a:r>
            <a:r>
              <a:rPr lang="en-US" dirty="0" smtClean="0">
                <a:solidFill>
                  <a:schemeClr val="bg1"/>
                </a:solidFill>
              </a:rPr>
              <a:t>stayed, </a:t>
            </a:r>
            <a:r>
              <a:rPr lang="en-US">
                <a:solidFill>
                  <a:schemeClr val="bg1"/>
                </a:solidFill>
              </a:rPr>
              <a:t>making </a:t>
            </a:r>
            <a:r>
              <a:rPr lang="en-US" dirty="0" smtClean="0">
                <a:solidFill>
                  <a:schemeClr val="bg1"/>
                </a:solidFill>
              </a:rPr>
              <a:t>j</a:t>
            </a:r>
            <a:r>
              <a:rPr lang="en-US" smtClean="0">
                <a:solidFill>
                  <a:schemeClr val="bg1"/>
                </a:solidFill>
              </a:rPr>
              <a:t>ob </a:t>
            </a:r>
            <a:r>
              <a:rPr lang="en-US" dirty="0">
                <a:solidFill>
                  <a:schemeClr val="bg1"/>
                </a:solidFill>
              </a:rPr>
              <a:t>satisfaction shows the strongest association with attrition in </a:t>
            </a:r>
            <a:r>
              <a:rPr lang="en-US">
                <a:solidFill>
                  <a:schemeClr val="bg1"/>
                </a:solidFill>
              </a:rPr>
              <a:t>this </a:t>
            </a:r>
            <a:r>
              <a:rPr lang="en-US" smtClean="0">
                <a:solidFill>
                  <a:schemeClr val="bg1"/>
                </a:solidFill>
              </a:rPr>
              <a:t>dataset.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Satisfaction </a:t>
            </a:r>
            <a:r>
              <a:rPr lang="en-US" dirty="0">
                <a:solidFill>
                  <a:schemeClr val="bg1"/>
                </a:solidFill>
              </a:rPr>
              <a:t>is uniformly average across all departments and positions, all scoring exactly 3 out of 5 — meaning dissatisfaction is not concentrated in one team or role but is felt </a:t>
            </a:r>
            <a:r>
              <a:rPr lang="en-US" dirty="0" smtClean="0">
                <a:solidFill>
                  <a:schemeClr val="bg1"/>
                </a:solidFill>
              </a:rPr>
              <a:t>company-wide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Less than half the workforce, only 42.9%, is enrolled in benefits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Employees enrolled in benefits and those not enrolled leave at the same rate of 40%, meaning the current benefits package is not keeping </a:t>
            </a:r>
            <a:r>
              <a:rPr lang="en-US" dirty="0" smtClean="0">
                <a:solidFill>
                  <a:schemeClr val="bg1"/>
                </a:solidFill>
              </a:rPr>
              <a:t>people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Across all departments and roles, satisfaction consistently emerges as the one factor that separates employees who stay from those who leave.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177" y="99840"/>
            <a:ext cx="469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What is Driving It?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35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474" y="182880"/>
            <a:ext cx="513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Are We Losing Our Best People</a:t>
            </a:r>
            <a:r>
              <a:rPr lang="en-US" dirty="0" smtClean="0">
                <a:solidFill>
                  <a:schemeClr val="accent2"/>
                </a:solidFill>
              </a:rPr>
              <a:t>?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3" y="552213"/>
            <a:ext cx="4234375" cy="23457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607" y="552211"/>
            <a:ext cx="3811446" cy="23457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057" y="552212"/>
            <a:ext cx="3780340" cy="23457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422" y="3376246"/>
            <a:ext cx="117776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performers have the lowest attrition rate at </a:t>
            </a:r>
            <a:r>
              <a:rPr lang="en-US" dirty="0" smtClean="0">
                <a:solidFill>
                  <a:schemeClr val="bg1"/>
                </a:solidFill>
              </a:rPr>
              <a:t>30.7%, meaning </a:t>
            </a:r>
            <a:r>
              <a:rPr lang="en-US" dirty="0">
                <a:solidFill>
                  <a:schemeClr val="bg1"/>
                </a:solidFill>
              </a:rPr>
              <a:t>Salt Corporation's strongest employees are the most likely to stay, which is a positive </a:t>
            </a:r>
            <a:r>
              <a:rPr lang="en-US" dirty="0" smtClean="0">
                <a:solidFill>
                  <a:schemeClr val="bg1"/>
                </a:solidFill>
              </a:rPr>
              <a:t>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However B performers, our second strongest group, have the highest attrition at 43.1</a:t>
            </a:r>
            <a:r>
              <a:rPr lang="en-US" dirty="0" smtClean="0">
                <a:solidFill>
                  <a:schemeClr val="bg1"/>
                </a:solidFill>
              </a:rPr>
              <a:t>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Looking at salaries, an A performer earns an average of $60,179 while an F performer earns $</a:t>
            </a:r>
            <a:r>
              <a:rPr lang="en-US" dirty="0" smtClean="0">
                <a:solidFill>
                  <a:schemeClr val="bg1"/>
                </a:solidFill>
              </a:rPr>
              <a:t>60,201 which is </a:t>
            </a:r>
            <a:r>
              <a:rPr lang="en-US" dirty="0">
                <a:solidFill>
                  <a:schemeClr val="bg1"/>
                </a:solidFill>
              </a:rPr>
              <a:t>virtually the </a:t>
            </a:r>
            <a:r>
              <a:rPr lang="en-US" dirty="0" smtClean="0">
                <a:solidFill>
                  <a:schemeClr val="bg1"/>
                </a:solidFill>
              </a:rPr>
              <a:t>same, meaning that salary is not tied to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Finance, despite being the largest department at 218 employees, pays the second lowest average </a:t>
            </a:r>
            <a:r>
              <a:rPr lang="en-US" dirty="0" smtClean="0">
                <a:solidFill>
                  <a:schemeClr val="bg1"/>
                </a:solidFill>
              </a:rPr>
              <a:t>salary, </a:t>
            </a:r>
            <a:r>
              <a:rPr lang="en-US" dirty="0">
                <a:solidFill>
                  <a:schemeClr val="bg1"/>
                </a:solidFill>
              </a:rPr>
              <a:t>this may be contributing to its 40.4% attrition </a:t>
            </a:r>
            <a:r>
              <a:rPr lang="en-US" dirty="0" smtClean="0">
                <a:solidFill>
                  <a:schemeClr val="bg1"/>
                </a:solidFill>
              </a:rPr>
              <a:t>rate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When good performers see that working hard makes no difference to their pay, they stop feeling valued and they leave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43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616278"/>
            <a:ext cx="4700423" cy="27556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492" y="580347"/>
            <a:ext cx="4805479" cy="2755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1354" y="211015"/>
            <a:ext cx="478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Are We Investing In Our People?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354" y="3587262"/>
            <a:ext cx="117887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Employees receive an average of 42 training hours per year, roughly one week of development across the whole </a:t>
            </a:r>
            <a:r>
              <a:rPr lang="en-US" dirty="0" smtClean="0">
                <a:solidFill>
                  <a:schemeClr val="bg1"/>
                </a:solidFill>
              </a:rPr>
              <a:t>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Finance receives the least training at 39 hours, the same department carrying the second lowest salary and a 40.4% attrition rate, suggesting a pattern of underinvestment in that </a:t>
            </a:r>
            <a:r>
              <a:rPr lang="en-US" dirty="0" smtClean="0">
                <a:solidFill>
                  <a:schemeClr val="bg1"/>
                </a:solidFill>
              </a:rPr>
              <a:t>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Sales receives the most training at 44 hours, yet still carries a 36.6% attrition rate, showing that training alone is insufficient without addressing </a:t>
            </a:r>
            <a:r>
              <a:rPr lang="en-US" dirty="0" smtClean="0">
                <a:solidFill>
                  <a:schemeClr val="bg1"/>
                </a:solidFill>
              </a:rPr>
              <a:t>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Directors receive the least training at 40 hours while Clerks receive the most at 45 hours, meaning the leaders who most influence team culture and morale receive the least development </a:t>
            </a:r>
            <a:r>
              <a:rPr lang="en-US" dirty="0" smtClean="0">
                <a:solidFill>
                  <a:schemeClr val="bg1"/>
                </a:solidFill>
              </a:rPr>
              <a:t>investment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Salt Corporation is investing in its people through training, and with smarter targeting of that investment toward Finance and senior leadership, the impact on satisfaction and retention could be significant.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55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618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KEY FINDINGS: </a:t>
            </a:r>
            <a:r>
              <a:rPr lang="en-US" b="1" dirty="0">
                <a:solidFill>
                  <a:schemeClr val="accent2"/>
                </a:solidFill>
              </a:rPr>
              <a:t>What The Data Tells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1015" y="1083213"/>
            <a:ext cx="114792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</a:rPr>
              <a:t>Salt Corporation has a retention </a:t>
            </a:r>
            <a:r>
              <a:rPr lang="en-US" sz="2400" b="1" dirty="0" smtClean="0">
                <a:solidFill>
                  <a:schemeClr val="bg1"/>
                </a:solidFill>
              </a:rPr>
              <a:t>crisis - </a:t>
            </a:r>
            <a:r>
              <a:rPr lang="en-US" sz="2400" dirty="0" smtClean="0">
                <a:solidFill>
                  <a:schemeClr val="bg1"/>
                </a:solidFill>
              </a:rPr>
              <a:t>39.2% of employees have left and it cuts across equally in every department, position and employment type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</a:rPr>
              <a:t>Satisfaction drives </a:t>
            </a:r>
            <a:r>
              <a:rPr lang="en-US" sz="2400" b="1" dirty="0" smtClean="0">
                <a:solidFill>
                  <a:schemeClr val="bg1"/>
                </a:solidFill>
              </a:rPr>
              <a:t>attrition -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Employees </a:t>
            </a:r>
            <a:r>
              <a:rPr lang="en-US" sz="2400" dirty="0">
                <a:solidFill>
                  <a:schemeClr val="bg1"/>
                </a:solidFill>
              </a:rPr>
              <a:t>who leave score satisfaction at 2 out of 5. Those who stay score </a:t>
            </a:r>
            <a:r>
              <a:rPr lang="en-US" sz="2400" dirty="0" smtClean="0">
                <a:solidFill>
                  <a:schemeClr val="bg1"/>
                </a:solidFill>
              </a:rPr>
              <a:t>3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</a:rPr>
              <a:t>Performance deserves better </a:t>
            </a:r>
            <a:r>
              <a:rPr lang="en-US" sz="2400" b="1" dirty="0" smtClean="0">
                <a:solidFill>
                  <a:schemeClr val="bg1"/>
                </a:solidFill>
              </a:rPr>
              <a:t>reward - </a:t>
            </a:r>
            <a:r>
              <a:rPr lang="en-US" sz="2400" dirty="0" smtClean="0">
                <a:solidFill>
                  <a:schemeClr val="bg1"/>
                </a:solidFill>
              </a:rPr>
              <a:t>The best </a:t>
            </a:r>
            <a:r>
              <a:rPr lang="en-US" sz="2400" dirty="0">
                <a:solidFill>
                  <a:schemeClr val="bg1"/>
                </a:solidFill>
              </a:rPr>
              <a:t>and worst performers earn almost the same salary, leaving top talent feeling undervalued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</a:rPr>
              <a:t>Finance is doubly disadvantaged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- </a:t>
            </a:r>
            <a:r>
              <a:rPr lang="en-US" sz="2400" dirty="0">
                <a:solidFill>
                  <a:schemeClr val="bg1"/>
                </a:solidFill>
              </a:rPr>
              <a:t>the largest department carries the second lowest average salary and the second lowest training investment, creating conditions where dissatisfaction is almost </a:t>
            </a:r>
            <a:r>
              <a:rPr lang="en-US" sz="2400" dirty="0" smtClean="0">
                <a:solidFill>
                  <a:schemeClr val="bg1"/>
                </a:solidFill>
              </a:rPr>
              <a:t>inevitable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</a:rPr>
              <a:t>HR programs are not working as retention tools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- </a:t>
            </a:r>
            <a:r>
              <a:rPr lang="en-US" sz="2400" dirty="0">
                <a:solidFill>
                  <a:schemeClr val="bg1"/>
                </a:solidFill>
              </a:rPr>
              <a:t>benefits enrollment stands at 42.9% and has zero measurable impact on attrition, suggesting the current offering does not resonate with employee needs</a:t>
            </a:r>
          </a:p>
        </p:txBody>
      </p:sp>
    </p:spTree>
    <p:extLst>
      <p:ext uri="{BB962C8B-B14F-4D97-AF65-F5344CB8AC3E}">
        <p14:creationId xmlns:p14="http://schemas.microsoft.com/office/powerpoint/2010/main" val="206781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151" y="309489"/>
            <a:ext cx="540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RECOMMENDATIONS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9151" y="678821"/>
            <a:ext cx="1147923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/>
                </a:solidFill>
              </a:rPr>
              <a:t>Address satisfaction at the individual level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The data shows satisfaction is consistently low across all departments and roles. Salt Corporation should conduct structured exit interviews and anonymous pulse surveys to understand the specific, individual-level drivers of dissatisfaction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/>
                </a:solidFill>
              </a:rPr>
              <a:t>Introduce merit-based compensation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Currently pay is determined by department and position, not performance. HR should work with Finance to design a performance-linked pay structure where A and B performers are meaningfully rewarded above average and below-average performers. This directly addresses the disconnect between effort and reward that is quietly driving dissatisfaction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>
                <a:solidFill>
                  <a:schemeClr val="accent2"/>
                </a:solidFill>
              </a:rPr>
              <a:t>Prioritise</a:t>
            </a:r>
            <a:r>
              <a:rPr lang="en-US" b="1" dirty="0">
                <a:solidFill>
                  <a:schemeClr val="accent2"/>
                </a:solidFill>
              </a:rPr>
              <a:t> investment in Finance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chemeClr val="bg1"/>
                </a:solidFill>
              </a:rPr>
              <a:t>Finance</a:t>
            </a:r>
            <a:r>
              <a:rPr lang="en-US" dirty="0">
                <a:solidFill>
                  <a:schemeClr val="bg1"/>
                </a:solidFill>
              </a:rPr>
              <a:t> is the largest department, pays second lowest salaries and receives the least training. HR should review Finance compensation against market benchmarks and increase training </a:t>
            </a:r>
            <a:r>
              <a:rPr lang="en-US" dirty="0" smtClean="0">
                <a:solidFill>
                  <a:schemeClr val="bg1"/>
                </a:solidFill>
              </a:rPr>
              <a:t>allocation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/>
                </a:solidFill>
              </a:rPr>
              <a:t>Redesign the benefits program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With only 42.9% enrollment and zero impact on attrition, the current benefits offering is not working. HR should survey employees on what benefits they actually value and redesign the package around those </a:t>
            </a:r>
            <a:r>
              <a:rPr lang="en-US" dirty="0" smtClean="0">
                <a:solidFill>
                  <a:schemeClr val="bg1"/>
                </a:solidFill>
              </a:rPr>
              <a:t>preferences</a:t>
            </a:r>
            <a:endParaRPr lang="en-US" b="1" dirty="0">
              <a:solidFill>
                <a:schemeClr val="accent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/>
                </a:solidFill>
              </a:rPr>
              <a:t>Invest more in senior leaders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Directors receive the least training. Since leaders directly influence how teams feel, investing in their development will have a positive ripple effect across the whole </a:t>
            </a:r>
            <a:r>
              <a:rPr lang="en-US" dirty="0" err="1">
                <a:solidFill>
                  <a:schemeClr val="bg1"/>
                </a:solidFill>
              </a:rPr>
              <a:t>organisation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These recommendations </a:t>
            </a:r>
            <a:r>
              <a:rPr lang="en-US" dirty="0">
                <a:solidFill>
                  <a:schemeClr val="bg1"/>
                </a:solidFill>
              </a:rPr>
              <a:t>are interconnected. Addressing pay equity, satisfaction drivers, and program effectiveness together creates the conditions for a workforce that feels valued, fairly compensated and genuinely supported </a:t>
            </a:r>
            <a:endParaRPr lang="en-US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38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2708" y="2926081"/>
            <a:ext cx="108461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>
                <a:solidFill>
                  <a:schemeClr val="accent2"/>
                </a:solidFill>
                <a:latin typeface="Chiller" panose="04020404031007020602" pitchFamily="82" charset="0"/>
              </a:rPr>
              <a:t>THANK YOU…</a:t>
            </a:r>
            <a:endParaRPr lang="en-US" sz="9600" dirty="0">
              <a:solidFill>
                <a:schemeClr val="accent2"/>
              </a:solidFill>
              <a:latin typeface="Chiller" panose="04020404031007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81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1E4E79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663</TotalTime>
  <Words>1019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Chiller</vt:lpstr>
      <vt:lpstr>Times New Roman</vt:lpstr>
      <vt:lpstr>Wingdings</vt:lpstr>
      <vt:lpstr>Office Theme</vt:lpstr>
      <vt:lpstr>SALT CORPORATION HR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 CORPORATION HR ANALYSIS</dc:title>
  <dc:creator>user</dc:creator>
  <cp:lastModifiedBy>user</cp:lastModifiedBy>
  <cp:revision>35</cp:revision>
  <dcterms:created xsi:type="dcterms:W3CDTF">2026-07-21T10:57:06Z</dcterms:created>
  <dcterms:modified xsi:type="dcterms:W3CDTF">2026-07-28T11:37:59Z</dcterms:modified>
</cp:coreProperties>
</file>